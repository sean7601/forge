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a8be40740f4da6" /><Relationship Type="http://schemas.openxmlformats.org/officeDocument/2006/relationships/extended-properties" Target="/docProps/app.xml" Id="R22b7cc9b0e454bdb" /><Relationship Type="http://schemas.openxmlformats.org/officeDocument/2006/relationships/officeDocument" Target="/ppt/presentation.xml" Id="Rb2752689f9d0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b8dcb0643040ef"/>
  </p:sldMasterIdLst>
  <p:notesMasterIdLst>
    <p:notesMasterId xmlns:r="http://schemas.openxmlformats.org/officeDocument/2006/relationships" r:id="R5c60f0aa74114274"/>
  </p:notesMasterIdLst>
  <p:sldIdLst>
    <p:sldId xmlns:r="http://schemas.openxmlformats.org/officeDocument/2006/relationships" id="256" r:id="R6b928aa3eb2c4cff"/>
    <p:sldId xmlns:r="http://schemas.openxmlformats.org/officeDocument/2006/relationships" id="257" r:id="R71001e6b9ce84815"/>
    <p:sldId xmlns:r="http://schemas.openxmlformats.org/officeDocument/2006/relationships" id="258" r:id="R9abcc6ebcffe4573"/>
    <p:sldId xmlns:r="http://schemas.openxmlformats.org/officeDocument/2006/relationships" id="259" r:id="R833bcab068a3454e"/>
    <p:sldId xmlns:r="http://schemas.openxmlformats.org/officeDocument/2006/relationships" id="260" r:id="R754b2000df6d4c0f"/>
    <p:sldId xmlns:r="http://schemas.openxmlformats.org/officeDocument/2006/relationships" id="261" r:id="R3e57237b7bfa4ba1"/>
    <p:sldId xmlns:r="http://schemas.openxmlformats.org/officeDocument/2006/relationships" id="262" r:id="R8f75ce2665a047ec"/>
    <p:sldId xmlns:r="http://schemas.openxmlformats.org/officeDocument/2006/relationships" id="263" r:id="R518ca634aefb4c7f"/>
    <p:sldId xmlns:r="http://schemas.openxmlformats.org/officeDocument/2006/relationships" id="264" r:id="R36c7104fc9b343ad"/>
    <p:sldId xmlns:r="http://schemas.openxmlformats.org/officeDocument/2006/relationships" id="265" r:id="R4fa9ed5b3faf47e7"/>
    <p:sldId xmlns:r="http://schemas.openxmlformats.org/officeDocument/2006/relationships" id="266" r:id="R057ffa4ee09348ad"/>
    <p:sldId xmlns:r="http://schemas.openxmlformats.org/officeDocument/2006/relationships" id="267" r:id="Rf4188649b8d142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8dcb0643040ef" /><Relationship Type="http://schemas.openxmlformats.org/officeDocument/2006/relationships/theme" Target="/ppt/theme/theme1.xml" Id="R2d113f7467394bca" /><Relationship Type="http://schemas.openxmlformats.org/officeDocument/2006/relationships/notesMaster" Target="/ppt/notesMasters/notesMaster1.xml" Id="R5c60f0aa74114274" /><Relationship Type="http://schemas.openxmlformats.org/officeDocument/2006/relationships/presProps" Target="/ppt/presProps.xml" Id="R8764ef1c38e14bf5" /><Relationship Type="http://schemas.openxmlformats.org/officeDocument/2006/relationships/viewProps" Target="/ppt/viewProps.xml" Id="Re3dd1b7967dd428c" /><Relationship Type="http://schemas.openxmlformats.org/officeDocument/2006/relationships/tableStyles" Target="/ppt/tableStyles.xml" Id="Rdb72f79ae42f494d" /><Relationship Type="http://schemas.openxmlformats.org/officeDocument/2006/relationships/slide" Target="/ppt/slides/slide1.xml" Id="R6b928aa3eb2c4cff" /><Relationship Type="http://schemas.openxmlformats.org/officeDocument/2006/relationships/slide" Target="/ppt/slides/slide2.xml" Id="R71001e6b9ce84815" /><Relationship Type="http://schemas.openxmlformats.org/officeDocument/2006/relationships/slide" Target="/ppt/slides/slide3.xml" Id="R9abcc6ebcffe4573" /><Relationship Type="http://schemas.openxmlformats.org/officeDocument/2006/relationships/slide" Target="/ppt/slides/slide4.xml" Id="R833bcab068a3454e" /><Relationship Type="http://schemas.openxmlformats.org/officeDocument/2006/relationships/slide" Target="/ppt/slides/slide5.xml" Id="R754b2000df6d4c0f" /><Relationship Type="http://schemas.openxmlformats.org/officeDocument/2006/relationships/slide" Target="/ppt/slides/slide6.xml" Id="R3e57237b7bfa4ba1" /><Relationship Type="http://schemas.openxmlformats.org/officeDocument/2006/relationships/slide" Target="/ppt/slides/slide7.xml" Id="R8f75ce2665a047ec" /><Relationship Type="http://schemas.openxmlformats.org/officeDocument/2006/relationships/slide" Target="/ppt/slides/slide8.xml" Id="R518ca634aefb4c7f" /><Relationship Type="http://schemas.openxmlformats.org/officeDocument/2006/relationships/slide" Target="/ppt/slides/slide9.xml" Id="R36c7104fc9b343ad" /><Relationship Type="http://schemas.openxmlformats.org/officeDocument/2006/relationships/slide" Target="/ppt/slides/slide10.xml" Id="R4fa9ed5b3faf47e7" /><Relationship Type="http://schemas.openxmlformats.org/officeDocument/2006/relationships/slide" Target="/ppt/slides/slide11.xml" Id="R057ffa4ee09348ad" /><Relationship Type="http://schemas.openxmlformats.org/officeDocument/2006/relationships/slide" Target="/ppt/slides/slide12.xml" Id="Rf4188649b8d142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53fd615250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07ee40339d4109" /><Relationship Type="http://schemas.openxmlformats.org/officeDocument/2006/relationships/notesMaster" Target="/ppt/notesMasters/notesMaster1.xml" Id="Ra539722f497f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dbee305a5f4a62" /><Relationship Type="http://schemas.openxmlformats.org/officeDocument/2006/relationships/notesMaster" Target="/ppt/notesMasters/notesMaster1.xml" Id="R538455c8212c43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83fa8aaffd45b9" /><Relationship Type="http://schemas.openxmlformats.org/officeDocument/2006/relationships/notesMaster" Target="/ppt/notesMasters/notesMaster1.xml" Id="R3288a22749e2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d8c52194aa45ec" /><Relationship Type="http://schemas.openxmlformats.org/officeDocument/2006/relationships/notesMaster" Target="/ppt/notesMasters/notesMaster1.xml" Id="R2eb83c2ae6db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4195b5ae0c4fcf" /><Relationship Type="http://schemas.openxmlformats.org/officeDocument/2006/relationships/notesMaster" Target="/ppt/notesMasters/notesMaster1.xml" Id="Rfe0463c9014e40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754fdc67b8486c" /><Relationship Type="http://schemas.openxmlformats.org/officeDocument/2006/relationships/notesMaster" Target="/ppt/notesMasters/notesMaster1.xml" Id="R26f24dd2d6d04e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40f17f08f84d60" /><Relationship Type="http://schemas.openxmlformats.org/officeDocument/2006/relationships/notesMaster" Target="/ppt/notesMasters/notesMaster1.xml" Id="Rb446357f29a140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a2579e1537435b" /><Relationship Type="http://schemas.openxmlformats.org/officeDocument/2006/relationships/notesMaster" Target="/ppt/notesMasters/notesMaster1.xml" Id="R3ba7459af4d745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d635b4858548e1" /><Relationship Type="http://schemas.openxmlformats.org/officeDocument/2006/relationships/notesMaster" Target="/ppt/notesMasters/notesMaster1.xml" Id="Rc58aa54974f149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a65cdbfcae44bb" /><Relationship Type="http://schemas.openxmlformats.org/officeDocument/2006/relationships/notesMaster" Target="/ppt/notesMasters/notesMaster1.xml" Id="R5d32a172731d44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7060c7523e45db" /><Relationship Type="http://schemas.openxmlformats.org/officeDocument/2006/relationships/notesMaster" Target="/ppt/notesMasters/notesMaster1.xml" Id="Rbf9b3b04a59b4f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291f8f78b64942" /><Relationship Type="http://schemas.openxmlformats.org/officeDocument/2006/relationships/notesMaster" Target="/ppt/notesMasters/notesMaster1.xml" Id="R16fe8e64ec27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f96fb1d9049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61bbd29b7924cf0" /><Relationship Type="http://schemas.openxmlformats.org/officeDocument/2006/relationships/slideLayout" Target="/ppt/slideLayouts/slideLayout2.xml" Id="Ref68bd155c154b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8bd155c154b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a1b5ad90d44b0b" /><Relationship Type="http://schemas.openxmlformats.org/officeDocument/2006/relationships/notesSlide" Target="/ppt/notesSlides/notesSlide1.xml" Id="Rf55893e94f8e47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e639d1dc84317" /><Relationship Type="http://schemas.openxmlformats.org/officeDocument/2006/relationships/notesSlide" Target="/ppt/notesSlides/notesSlide2.xml" Id="Rc7ddde8706a247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7ff164eb5b416e" /><Relationship Type="http://schemas.openxmlformats.org/officeDocument/2006/relationships/notesSlide" Target="/ppt/notesSlides/notesSlide3.xml" Id="Rb79adeb7b3304e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cfba82bab444a" /><Relationship Type="http://schemas.openxmlformats.org/officeDocument/2006/relationships/notesSlide" Target="/ppt/notesSlides/notesSlide4.xml" Id="R9923c8a5f64d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2ee0fbe894119" /><Relationship Type="http://schemas.openxmlformats.org/officeDocument/2006/relationships/notesSlide" Target="/ppt/notesSlides/notesSlide5.xml" Id="R1da58a78aec54b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c7f9a30354f36" /><Relationship Type="http://schemas.openxmlformats.org/officeDocument/2006/relationships/notesSlide" Target="/ppt/notesSlides/notesSlide6.xml" Id="R0787b145a7cb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7b6d7df79144d2" /><Relationship Type="http://schemas.openxmlformats.org/officeDocument/2006/relationships/notesSlide" Target="/ppt/notesSlides/notesSlide7.xml" Id="R2edad72210664b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f575eaff6743ef" /><Relationship Type="http://schemas.openxmlformats.org/officeDocument/2006/relationships/notesSlide" Target="/ppt/notesSlides/notesSlide8.xml" Id="Re18523b5f64245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8c752e16f14896" /><Relationship Type="http://schemas.openxmlformats.org/officeDocument/2006/relationships/notesSlide" Target="/ppt/notesSlides/notesSlide9.xml" Id="Re82cb3bdb4a545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7089867654da2" /><Relationship Type="http://schemas.openxmlformats.org/officeDocument/2006/relationships/notesSlide" Target="/ppt/notesSlides/notesSlide10.xml" Id="R22f928b4469848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6af27dab7c4fc4" /><Relationship Type="http://schemas.openxmlformats.org/officeDocument/2006/relationships/notesSlide" Target="/ppt/notesSlides/notesSlide11.xml" Id="R687424e2eff74f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4899fb65b4713" /><Relationship Type="http://schemas.openxmlformats.org/officeDocument/2006/relationships/notesSlide" Target="/ppt/notesSlides/notesSlide12.xml" Id="Refcc05e57eb045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53536-F03C-4FEF-AB42-99029DCE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B4FA3-4F19-4CF6-9F66-D2088609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1150"/>
            <a:ext cx="1219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24C07-F7F9-4D3D-A05F-1933E154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609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AGI &amp; WAR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08FAE-FEE8-4677-8A6F-C07D48A5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Not autonomous drones.</a:t>
            </a:r>
          </a:p>
          <a:p xmlns:a="http://schemas.openxmlformats.org/drawingml/2006/main">
            <a:pPr algn="l">
              <a:defRPr sz="22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Faster military science.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54B3C-6E61-4FCB-98FF-C5EC5CA1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CD3E9-641D-4E49-8783-C3B1EDA8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66AA8-0013-4FBA-B4AC-5509C4C0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62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F5367-30AB-428B-963E-6D3E4B70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05100"/>
            <a:ext cx="685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1F787-ACA5-4638-BE96-FB187A75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D3716-2D25-433C-A6AD-2E82050D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337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213E2-3BB9-4248-89ED-0D96EFF7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19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ECA53-BA7E-4F06-89A7-D87152A1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00600"/>
            <a:ext cx="19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7BDE1-1B3F-4F0F-8945-C7AFADB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CONTROL TODAY'S FORCE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9D90A-9EEB-4E3B-B6E9-47F605A2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DESIGN THE NEXT FORCE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D5A60-F190-442B-8BFD-E286F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1EACF-0B1A-4197-A613-880ECDD9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6583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657999-6102-436E-97B0-38C36603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593EBBAE-AF66-43B5-A917-B2D1AC4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F56731E6-4365-4677-8550-C893E10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COMPUTE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63630-200B-4017-9935-63D4DA5C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Scarce AGI compute creates a military fork.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00782-A9F4-4045-AB02-F8E999D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One budget. Two high-leverage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84CC0-1B47-40D6-97CB-DF27DC15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F88B3-A0E9-49BF-A4D7-ECFA6D7F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51A83-7B77-4718-AA6A-4FA93AF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ED773-5C2F-40B5-BD34-23FBAA20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52EEE-B09F-4557-832B-992992E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60BB5-1555-4EEA-8B1B-0D12CB8D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314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AGI</a:t>
            </a:r>
          </a:p>
          <a:p xmlns:a="http://schemas.openxmlformats.org/drawingml/2006/main">
            <a:pPr algn="l">
              <a:defRPr sz="22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E0E90-61FB-4B7D-B29D-4D2BA120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9545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48C60-67D6-468B-B643-E5C32A02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CONTROL</a:t>
            </a:r>
          </a:p>
          <a:p xmlns:a="http://schemas.openxmlformats.org/drawingml/2006/main">
            <a:pPr algn="l">
              <a:defRPr sz="23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BATTLEFIELD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1E0FB-EAA5-4CDB-8BE9-2BD8042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E0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E0D0"/>
                </a:solidFill>
                <a:latin typeface="Aptos"/>
                <a:ea typeface="Aptos"/>
                <a:cs typeface="Aptos"/>
              </a:rPr>
              <a:t>fast to deploy / legible advantage / alignment burden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9EDB0-D2E9-4B4B-8069-9202227A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668B0-4A5B-4B68-87AD-198A7F6F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766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DESIGN</a:t>
            </a:r>
          </a:p>
          <a:p xmlns:a="http://schemas.openxmlformats.org/drawingml/2006/main">
            <a:pPr algn="l">
              <a:defRPr sz="2325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NEXT FORCE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A903F-B94B-4198-8DBA-5331CC6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harder to organize / bigger payoff / less direct kill-chain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D449A-B2E3-49B8-9B85-B5AEE48C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8F8B4-105A-448E-8103-3AC5DDB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Back office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7B338-3CF2-439A-A096-D3A1591B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Useful</a:t>
            </a:r>
          </a:p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Governable</a:t>
            </a:r>
          </a:p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Table stakes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3CA8E-C71F-439A-9659-757ED635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CB697-AB24-4EF7-9974-C9445F9B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16081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811DA-118B-4A61-A1A7-0AC0AF24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1F83189B-30E2-4C32-B2D1-D9ABF69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839D249-59A1-404C-B577-547F54C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WAR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7812E-3ED3-484F-A527-CCDE0C57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The tools change. The pattern persists.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656C1-33E6-431C-81A6-C90B9204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47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0B45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0B451"/>
                </a:solidFill>
                <a:latin typeface="Aptos"/>
                <a:ea typeface="Aptos"/>
                <a:cs typeface="Aptos"/>
              </a:rPr>
              <a:t>SPEARMAN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A81EB-2F14-49DE-A16B-AE2C1D3B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FA4C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A4C5"/>
                </a:solidFill>
                <a:latin typeface="Aptos"/>
                <a:ea typeface="Aptos"/>
                <a:cs typeface="Aptos"/>
              </a:rPr>
              <a:t>F-35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1D28E-26EB-45F1-B943-285DE3E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95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B4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6D500-1702-4679-9C38-6B3B96B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05150"/>
            <a:ext cx="152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55FAC-3C7B-4C63-84F5-88C7704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63D91-FCED-45AE-AE15-C9548A07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857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32AE1-4BF7-482C-88F5-8853A891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00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E5F50-F7D3-4B52-A28E-46FC84D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B6A5D-F6FA-4CFA-B9E5-15F5738E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480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6FF11-A7AB-4DA7-ACF5-70BCC6E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495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267CF-A4C5-40AF-97FF-C9A58CB2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28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F89D6-D35C-4641-ADEE-53AAA029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860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239AE-D22C-4F2E-B960-460A419F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66DEA-DAE1-4BE4-9A7F-2618907F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eyes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A7E96-9057-4C60-B117-6227B236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radar + 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A3E55-A725-4153-9AB1-4B66FC7C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1DB80-08E9-456D-9501-70F9FB0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AFFECT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3C8054-C88A-43AD-9425-741D9576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09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spear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14718-A337-41D2-BC8A-09452472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9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missiles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F249D-39BF-4312-B654-44C10A18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338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B96B2-21ED-4406-8BB4-B6EDD216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HIDE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EF69E-76B9-4D21-B3B3-D6A2DD20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shield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07806-240E-4794-919A-076AB28F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stealth + 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7A945-01DA-4856-94C9-CD072CA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577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42A45-71A4-4895-9755-5328894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02618-3735-445F-9F9E-54CC927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brain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8CD583-2A77-47B2-AC25-53731433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pilot + computer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7A2AE7-CB51-4754-B189-575857E9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43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50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6502E"/>
                </a:solidFill>
                <a:latin typeface="Aptos"/>
                <a:ea typeface="Aptos"/>
                <a:cs typeface="Aptos"/>
              </a:rPr>
              <a:t>Same grammar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F3281E-86B4-4046-883B-02739A7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86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different regime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A05416-EDED-4A15-9FB3-5DC27BC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C656D-D954-4529-8057-F76F53D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92593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A40936-2071-4F9D-99ED-95A95E32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B84F3272-6B3A-481A-8F1A-D35EF0C5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5AF524AA-4E31-4881-B701-132036E6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TECH 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BB2D1-889F-48B9-95F6-0751FBCC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An F-35 is not 20% better than a spear.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C48E3-54FF-4C00-A1FB-53889EB5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47850"/>
            <a:ext cx="57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19727-A116-49B9-BF7C-EC99E1A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4479C-62E7-4C01-83D2-CD05CA8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72075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A1B9F-B074-410B-A2B1-EC1AC7F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53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Spear + shield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409A5-63FA-416D-847C-FFEE7075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human body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03968-010E-4772-A5DB-DE2DC50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957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5C6D6-F9C4-40BF-B058-1E3310FE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62425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01E4F-A6EA-4BE2-B823-AEAC7D8E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43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Rifle + radio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E3891-F656-479E-94AA-D9C237A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243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industrial fire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BAAE7-F856-42C1-9C5C-EE514C38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860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C1702-B521-4B0D-BE89-419C7AE6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52775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BF1E4-31C5-42AA-AEBE-2437262A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Bomber + radar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86DDE-6859-499F-AE7C-5733F037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airpower regime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4BCE4-4EEC-47ED-9132-3463025A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764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59D31-7BBA-439D-978A-2D2B9AA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43125"/>
            <a:ext cx="1085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6CADF-2742-4CE6-883E-31C5E0CF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24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F-35 + network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FAE4E-F591-4312-A124-9616796B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05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sensor-fusion regime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90CAF-D7F3-406E-99BD-94485484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2857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3A055-6FC8-4914-85AB-5B19A258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Wrong frame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77B84-8EB8-47F0-9438-4CEE35AC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+20%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B3FCA-76AD-4D0C-9769-BF682DE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576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marginal</a:t>
            </a:r>
          </a:p>
          <a:p xmlns:a="http://schemas.openxmlformats.org/drawingml/2006/main">
            <a:pPr algn="l">
              <a:defRPr sz="210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8C571-613F-4BA2-9DAF-32058685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76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Right frame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B729E-B5D4-4F81-ABB1-62839D14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different branch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EBFE1-1F32-4CDD-A01D-53C17A3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AFF9C-6AC0-4FFE-B6A5-893BB198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4898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DB13A-DB13-40D1-872A-3AC7CD6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346A17E-BBD6-43C0-AFD0-54A47F2F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97875D6A-9BB6-4D97-A250-E4AE707A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AUTONOMY BRANCH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740B6-03DC-4F7D-AF19-D7FB9F7F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Autonomy scales the current branch.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D8DED-00AF-4131-B89B-ABA1BB0D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No new sensor. No new effector. No new protector.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CE150-576E-4D24-B608-20D47F82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0BEA1-C20E-4FC0-B492-03851F84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800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3258-6F76-445B-A201-44EA600A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800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16623-2A55-43EE-8691-EAADCCAE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66950"/>
            <a:ext cx="800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1DAE7-DDA8-4829-BFF8-9E328701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+10%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8828C-04B7-4624-BF20-99DC2D7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385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+25%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56FE7-974D-4E8C-83B2-1A75612B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669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+2000%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5D88E-D26A-47AE-BA5F-E4A7EB67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robot</a:t>
            </a:r>
          </a:p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operator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39605-591E-4666-B750-E045279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435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higher</a:t>
            </a:r>
          </a:p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tempo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F8E10-1648-412E-A6EE-B1D17B2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4350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new</a:t>
            </a:r>
          </a:p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regime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D4702-2CBC-4118-9434-8A55FBD5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33600"/>
            <a:ext cx="714375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3E947-4BD7-46E9-A535-AAD3C0B3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381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B4605-1225-4553-BFCB-4EF45E3E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2381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F3DA1-05F5-4E13-A2AD-BEC633F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3429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326F3-3E26-4423-A358-52F8A228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67050"/>
            <a:ext cx="2952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1F2DF-F3A7-4DA9-BD5C-61D1E0F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67050"/>
            <a:ext cx="2952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5627E-8860-475F-AEFF-18C8CDDF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000500"/>
            <a:ext cx="95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291A6-365D-44F7-A022-F31B3EFF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000500"/>
            <a:ext cx="95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9174D-E64A-476C-8E9D-E302A9B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7A9D0-50BC-4EFE-A387-F338057D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Useful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BCAF1-5992-443C-9630-F94C5D0E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152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capacity</a:t>
            </a:r>
          </a:p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tempo</a:t>
            </a:r>
          </a:p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endurance</a:t>
            </a:r>
          </a:p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24685-4030-44D7-BEF8-3B2523A7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50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6502E"/>
                </a:solidFill>
                <a:latin typeface="Aptos"/>
                <a:ea typeface="Aptos"/>
                <a:cs typeface="Aptos"/>
              </a:rPr>
              <a:t>Not the deepest revolution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2E81F-CB75-4A9B-AEA8-D3949A9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3BA70-8A45-4500-997C-71C10E97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41908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10529D-1F8F-4882-9F68-2C4BF510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48354DCC-418A-49E1-B3B7-49B95901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6F1B5BD-A66A-4631-A1E4-E8D987B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ALREADY AUTONOMOUS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CC566-5394-47C2-892A-FABFF092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The final decision is already delegated.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6B25B-E306-4BA5-BE8B-C3A02FAE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912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DE69C-96CF-4567-A0FA-28D1B20B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2A8D8-5C3A-429A-8345-139C4F3D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Bomb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86BAD-0C98-426A-8F52-4C86ED6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4229D-167D-4A25-85DE-17AD331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B4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F8F86-53C4-43E2-A5C6-E876849E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Missile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D1329-4B0F-4413-93C0-F22092ED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find + hit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E4959-6004-4C35-A7FB-AA8136B4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4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7A771-BC80-4A71-9AEA-B9BDB5C1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Torpedo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35A62-0FD4-4508-AC51-13ABAD2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search + 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57572-92CC-4DA9-854E-B5D18F65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88EEA-F145-450F-BECF-7D6E9B73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Loitering</a:t>
            </a:r>
          </a:p>
          <a:p xmlns:a="http://schemas.openxmlformats.org/drawingml/2006/main">
            <a:pPr algn="ctr">
              <a:defRPr sz="18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munition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7B527-4FDD-41E5-8CFF-5E03961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956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wait + strike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C1BB5-B49A-4725-AC54-E771C1CA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What changes?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9586A-3945-41AB-82EB-D01C0CA0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distance from human decision</a:t>
            </a:r>
          </a:p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to lethal effect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FCDFA-EF55-4BF3-960D-0A981E8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C8668-599B-443E-989D-C53756B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What does not?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E155B-A489-46E1-B938-266F93E0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intelligence alone</a:t>
            </a:r>
          </a:p>
          <a:p xmlns:a="http://schemas.openxmlformats.org/drawingml/2006/main">
            <a:pPr algn="l">
              <a:defRPr sz="202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is not a new branch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FF758-166B-4FE1-B022-3CC45B5B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192E1-6008-4D3D-81AE-591354A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66850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8BDC78-4B63-479D-A084-107C1F79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A92E0F86-01E7-4F3C-8141-371F7175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0915686D-F6EF-441A-8101-DA3E263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1943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E3ABF-958A-4BC6-BD07-EF08C9F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Give Eisenhower AGI. What wins?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6126B-004E-4286-9C66-5D92D73F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6E4E3-9CF4-4684-B59A-D1A4751E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AE3C7-01F9-4FE2-8A86-CA7F740B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LESS IMPORTANT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33DED-9548-4F06-8DEF-9A993D62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digital pilots</a:t>
            </a:r>
          </a:p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in bombers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906CF-93AD-4FA0-B915-DDA4BD1A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48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EF381-B1BB-4C0A-8363-51577FA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0BBCD-7B5D-46E4-9A48-67F40913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24300"/>
            <a:ext cx="495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DE5C4-CD56-4F74-9DE9-538FD5E9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67175"/>
            <a:ext cx="28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3B457-7642-4BEA-A062-FAACC83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+ sorties</a:t>
            </a:r>
          </a:p>
          <a:p xmlns:a="http://schemas.openxmlformats.org/drawingml/2006/main">
            <a:pPr algn="l">
              <a:defRPr sz="18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- crew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B9590-5089-4F6E-B2F5-96518F6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907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A4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FA4C5"/>
                </a:solidFill>
                <a:latin typeface="Aptos"/>
                <a:ea typeface="Aptos"/>
                <a:cs typeface="Aptos"/>
              </a:rPr>
              <a:t>MORE IMPORTANT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2DF81-0D83-445B-A8AC-BDB97620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9850"/>
            <a:ext cx="352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postwar arsenal</a:t>
            </a:r>
          </a:p>
          <a:p xmlns:a="http://schemas.openxmlformats.org/drawingml/2006/main">
            <a:pPr algn="l">
              <a:defRPr sz="31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decades early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9B278-394A-4EF8-A526-5D5443A1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C5590-B6B9-4551-AA67-45AE7E60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jets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CC880-F149-4FCC-821E-BB3E4AFE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B4132-6460-408B-99F3-E0AC6D40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386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radar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78772-0592-4084-84EF-E41FB2F2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624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24DBB-9FEA-44CF-B364-F3F34165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386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missiles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4AC6D-4D79-4C9B-A308-4EAE6E89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06B61-E224-437E-A62C-7B388E2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29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stealth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C2350-0353-4EA9-BDC5-FD1A109D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FF04B-F8FB-4EBB-8EA6-478BB175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97EFDD-CDB1-483C-9AD7-E9F9799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CE3F2-027C-4175-93EE-0CD57292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29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precision nav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A6587-4A5B-4E57-AE62-B2A3BAE4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05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6502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6502E"/>
                </a:solidFill>
                <a:latin typeface="Aptos"/>
                <a:ea typeface="Aptos"/>
                <a:cs typeface="Aptos"/>
              </a:rPr>
              <a:t>Do not put a machine mind inside yesterday's weapon.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A46D8-FCD3-40F9-8175-F0D3E08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75BA6-0340-4DFF-8190-0C764C72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57305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8C074-AE02-4A28-B440-20B385D9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4143368-54F2-4DAF-975B-16554DF5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825D43B-8D62-4820-A2B5-D877D288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COMPRESSION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CADA9-CED4-4DC1-BB22-841694DB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AGI collapses discovery into doctrine.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C965D-ED83-448F-A24A-CB5760E9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524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66FBB-F5F3-480C-B8D5-6C7F9B8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CEA92-17B3-4A08-AD2D-3A89EB1F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1E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8BB96-FA44-4287-B6E6-A340259D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96FB5-B39A-45AC-958E-2748FC43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1524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7B35B-70E2-4CE6-B1B1-98AC3A5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4473D-AE46-4C7B-AC47-869E862B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1E"/>
                </a:solidFill>
                <a:latin typeface="Aptos"/>
                <a:ea typeface="Aptos"/>
                <a:cs typeface="Aptos"/>
              </a:rPr>
              <a:t>translate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EC594-AC49-4FCE-B112-3D29A356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F7D44-3D6A-4965-A055-6856EF5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00350"/>
            <a:ext cx="1524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C1031-6E86-4BE2-A169-4CFC910B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5F289-BC92-4652-ACF5-851E3E7A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1E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D1228-1643-4AA8-BBC0-55D1A230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289E1-0297-43DA-A570-C3321251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524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9731E-E746-4522-8B18-857AEEA9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CONOPS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71857-0610-4D89-A2E2-B90754D2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1E"/>
                </a:solidFill>
                <a:latin typeface="Aptos"/>
                <a:ea typeface="Aptos"/>
                <a:cs typeface="Aptos"/>
              </a:rPr>
              <a:t>adapt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26694-0F87-4D29-8A66-7AE327A9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628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7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5646E-F7D9-4488-8AFB-45EDC60F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1524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8F58A-57CB-4D98-A003-2BF7BA5E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CRISIS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27BEA-0B15-48C7-842D-8FD5D651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AE0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E0D0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B9AB3-23E7-4775-BA26-C69B86FF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old rhythm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AC95F-B29A-4F08-B88A-C998BF1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537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6F8F0-B850-4918-B1A8-31040C88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years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60B25-D479-4937-B4CF-8A95F198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14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5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6502E"/>
                </a:solidFill>
                <a:latin typeface="Aptos"/>
                <a:ea typeface="Aptos"/>
                <a:cs typeface="Aptos"/>
              </a:rPr>
              <a:t>new rhythm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A9372D-AE67-4D67-B3E2-6457BE94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D0EBB5-BCF3-403C-AF15-90727C27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14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months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E468F-94AD-4D79-AD27-9ED892CA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6F0E6"/>
                </a:solidFill>
                <a:latin typeface="Aptos"/>
                <a:ea typeface="Aptos"/>
                <a:cs typeface="Aptos"/>
              </a:rPr>
              <a:t>Policy and doctrine become the slowest parts of the system.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E81E0-405E-4624-A8FA-ABADA38D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B9765-34A0-4DF2-880F-FD31ECFD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10496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C52AF1-A022-47FF-97CA-D466CA3D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96343ED4-931E-4464-8A3A-3821C7A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DEE2C3D4-B284-48C2-A70C-30E975C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A1914-C582-46DE-AF2C-2F88E7C5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The hope: science beats autonomy.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77724-3562-4156-A826-32621DEC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510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C1B00-7BDF-4145-87A2-F0A94BB2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BF0FF-0E23-4CBE-A7F3-21998E45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14850"/>
            <a:ext cx="857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A5156-1FB1-4F1B-9A5D-FC34877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857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DEE9F-4AA8-4F1D-9C2A-F43C4545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857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A8A30-CD9D-47B6-8EA2-60A67A92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E6E24-A60A-4661-BF4A-C114922B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14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automate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DD0C0-26B8-4E2B-9DE7-6BD65058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149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invent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FA061-8C8D-4E0A-92AF-28B01849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military payoff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A32E2-1475-4936-ABA5-BAED51F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38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7AE"/>
                </a:solidFill>
                <a:latin typeface="Aptos"/>
                <a:ea typeface="Aptos"/>
                <a:cs typeface="Aptos"/>
              </a:rPr>
              <a:t>AGI compute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3EF36-C255-4933-B966-154B9CA0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314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F4078-09BF-4F21-886A-C374CAA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Early-computer clue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8F6C6-8A88-44EB-9670-32B3AF34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527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science moved fast</a:t>
            </a:r>
          </a:p>
          <a:p xmlns:a="http://schemas.openxmlformats.org/drawingml/2006/main">
            <a:pPr algn="l">
              <a:defRPr sz="2100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where computation bound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FC44E-43A8-4DEC-B06F-E234D4B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624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4A3A"/>
                </a:solidFill>
                <a:latin typeface="Aptos"/>
                <a:ea typeface="Aptos"/>
                <a:cs typeface="Aptos"/>
              </a:rPr>
              <a:t>computer-related papers:</a:t>
            </a:r>
          </a:p>
          <a:p xmlns:a="http://schemas.openxmlformats.org/drawingml/2006/main">
            <a:pPr algn="l">
              <a:defRPr sz="1500" b="0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4A3A"/>
                </a:solidFill>
                <a:latin typeface="Aptos"/>
                <a:ea typeface="Aptos"/>
                <a:cs typeface="Aptos"/>
              </a:rPr>
              <a:t>20% more cited</a:t>
            </a:r>
          </a:p>
          <a:p xmlns:a="http://schemas.openxmlformats.org/drawingml/2006/main">
            <a:pPr algn="l">
              <a:defRPr sz="1500" b="0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4A3A"/>
                </a:solidFill>
                <a:latin typeface="Aptos"/>
                <a:ea typeface="Aptos"/>
                <a:cs typeface="Aptos"/>
              </a:rPr>
              <a:t>more novel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A5398-4614-45F1-94CB-1D76F281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71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50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6502E"/>
                </a:solidFill>
                <a:latin typeface="Aptos"/>
                <a:ea typeface="Aptos"/>
                <a:cs typeface="Aptos"/>
              </a:rPr>
              <a:t>Make this path dominate the weapons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1D089-747E-48CA-A0DF-8DE0123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75"/>
                </a:solidFill>
                <a:latin typeface="Aptos"/>
                <a:ea typeface="Aptos"/>
                <a:cs typeface="Aptos"/>
              </a:rPr>
              <a:t>Source: Aldighieri &amp; Malpassi, SSRN abstract, Technological Breakthroughs and the Progress of Science,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119F7-3622-47EF-A910-5435D173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83528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6B302-804D-445D-8593-6B800032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577471C-858E-4283-82E1-761093C3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CBBC38A-DEA3-46C3-BEE9-4F7C50D6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ADOPTION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084CF-EE7A-42FC-B0B6-D68A7DBB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Known ideas can wait 30 years.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9554A-AC0F-4AC6-9506-CAB10AD9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2577-FDE0-45A6-99E9-979D02B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F6305-656A-407C-848C-1D7DEAD9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1990s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9AFD8-A874-4649-AA22-32F08A38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producible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18960-78E0-442B-9E14-4CBDA968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FB6A5-6FEA-40CD-A671-4B834F2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2010s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DB72F-1B7C-4A66-A7BC-4FB39566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niche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31840-C478-4950-8D97-1A3A915C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C4EB3-B625-4624-B4F4-03FD2ADA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2020s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EDDC3-C411-4EE5-B227-2592D00B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battlefield shock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616F0-5BCA-49B0-8199-0F1E42DA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0B4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0B451"/>
                </a:solidFill>
                <a:latin typeface="Aptos"/>
                <a:ea typeface="Aptos"/>
                <a:cs typeface="Aptos"/>
              </a:rPr>
              <a:t>Shahed-style lesson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2CDB2-761A-4AAE-B323-E2A633B4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6F0E6"/>
                </a:solidFill>
                <a:latin typeface="Aptos"/>
                <a:ea typeface="Aptos"/>
                <a:cs typeface="Aptos"/>
              </a:rPr>
              <a:t>The bottleneck was not physics.</a:t>
            </a:r>
          </a:p>
          <a:p xmlns:a="http://schemas.openxmlformats.org/drawingml/2006/main">
            <a:pPr algn="l">
              <a:defRPr sz="2100" b="0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6F0E6"/>
                </a:solidFill>
                <a:latin typeface="Aptos"/>
                <a:ea typeface="Aptos"/>
                <a:cs typeface="Aptos"/>
              </a:rPr>
              <a:t>It was belief, acquisition, doctrine.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F44D5-603F-4FAB-8D1B-AE3ADDD8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0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14B2B-BBFD-4EBC-BFA8-F1F4F1AC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A4C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FA4C5"/>
                </a:solidFill>
                <a:latin typeface="Aptos"/>
                <a:ea typeface="Aptos"/>
                <a:cs typeface="Aptos"/>
              </a:rPr>
              <a:t>AGI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DA3CF-922C-485D-9CF6-108D3AF7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explore</a:t>
            </a:r>
          </a:p>
          <a:p xmlns:a="http://schemas.openxmlformats.org/drawingml/2006/main">
            <a:pPr algn="l">
              <a:defRPr sz="22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validate</a:t>
            </a:r>
          </a:p>
          <a:p xmlns:a="http://schemas.openxmlformats.org/drawingml/2006/main">
            <a:pPr algn="l">
              <a:defRPr sz="22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adapt</a:t>
            </a:r>
          </a:p>
          <a:p xmlns:a="http://schemas.openxmlformats.org/drawingml/2006/main">
            <a:pPr algn="l">
              <a:defRPr sz="225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82EF4-EE61-4358-A13B-2DCD6CAE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4ACB4-0EA5-4F1C-AC93-C38C9354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72304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C99A3-19F5-4094-9D09-5A8315A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3C856C19-93A4-4AE2-B474-FCBF8F87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88C18CAB-B6E2-4264-B7F3-2CA31C9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B4222-BE85-4614-9A5A-ADCF340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Stability depends on tree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71769-B454-446D-9F73-01B3A611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143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4E5E6-6F43-44B3-84A0-8A9BCF9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FA4C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FA4C5"/>
                </a:solidFill>
                <a:latin typeface="Aptos"/>
                <a:ea typeface="Aptos"/>
                <a:cs typeface="Aptos"/>
              </a:rPr>
              <a:t>NARROW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0488F-0BE0-4870-902A-CC685720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1E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F171E"/>
                </a:solidFill>
                <a:latin typeface="Aptos"/>
                <a:ea typeface="Aptos"/>
                <a:cs typeface="Aptos"/>
              </a:rPr>
              <a:t>short lead -&gt; hegemony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06936-8395-4163-9856-0D1027C0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possible stasis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AE69D-CE88-4B1B-8C79-6901354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86300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EA1D1-3F0D-4952-8F40-B3E6A922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3143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FD6C6-D541-4D01-941C-0623F065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0B45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0B451"/>
                </a:solidFill>
                <a:latin typeface="Aptos"/>
                <a:ea typeface="Aptos"/>
                <a:cs typeface="Aptos"/>
              </a:rPr>
              <a:t>WIDE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42C4E-F83A-4A6B-B0E8-A0BF9857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stragglers find niches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B539E-2E71-4ABA-AC14-820890F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B4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0B451"/>
                </a:solidFill>
                <a:latin typeface="Aptos"/>
                <a:ea typeface="Aptos"/>
                <a:cs typeface="Aptos"/>
              </a:rPr>
              <a:t>contested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62F33-27B2-49CF-9B4E-5D7F7D7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24400"/>
            <a:ext cx="628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B4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59A21-F1E7-4BF1-B0F7-DBD438AF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57700"/>
            <a:ext cx="628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B4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B48CC-4378-4BE7-9553-F34E8D4B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9650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B4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16291-BA06-4E2E-A9F7-D12FECFE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143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23536-5C57-4090-A32B-0C0A18C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VERY WIDE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9152C-440A-4BD6-9D90-FA17E424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1465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orthogonal advantages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8EB5A-785E-4BFE-9772-FB2BEC23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deep instability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FF76E-8B36-46C4-8337-402AA536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33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6B849-D71E-467D-85E0-4C52ADAD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4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2812F-9B6E-434A-99BE-80A0DC5D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724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B4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B3FAE-F34F-4DA7-9ACF-70A5E37E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5310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50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6502E"/>
                </a:solidFill>
                <a:latin typeface="Aptos"/>
                <a:ea typeface="Aptos"/>
                <a:cs typeface="Aptos"/>
              </a:rPr>
              <a:t>Scariest case: different actors get different superpowers.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41386-F8C4-4154-9822-DD3FCC7A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BC527-E1E5-4FB9-98BE-593B4DCE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39379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50AF7-A1C2-45FB-B45D-CCD3F2F1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19CCA646-6E64-452D-AE75-B92DA335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04AC92AB-6321-4735-83DE-3EDB21F5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POLICY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2A142-D7B7-49CF-94D6-A0158DF0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800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Make design more attractive than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10624-9C31-48F2-8016-91EBC598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3810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9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3E821-DDDC-4482-85F4-F02636AB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810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CE439-B791-4B64-A020-CCDFA9AE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PUSH 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D02C3-0FA7-4F37-A33F-BAE4727C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289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mass autonomous</a:t>
            </a:r>
          </a:p>
          <a:p xmlns:a="http://schemas.openxmlformats.org/drawingml/2006/main">
            <a:pPr algn="l">
              <a:defRPr sz="27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weapons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E43E7-F9CD-47CD-8F6A-5E1A4F9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alignment risk</a:t>
            </a:r>
          </a:p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C2 brittleness</a:t>
            </a:r>
          </a:p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crisis speed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E80FE-5306-4BBB-B45B-6720C57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A4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A4C5"/>
                </a:solidFill>
                <a:latin typeface="Aptos"/>
                <a:ea typeface="Aptos"/>
                <a:cs typeface="Aptos"/>
              </a:rPr>
              <a:t>PULL LEFT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42368-9ACD-4C43-823A-ED8C31BE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AGI labs for</a:t>
            </a:r>
          </a:p>
          <a:p xmlns:a="http://schemas.openxmlformats.org/drawingml/2006/main">
            <a:pPr algn="l">
              <a:defRPr sz="27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military science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EF83F-A4F9-478E-80C5-01045CBA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evals</a:t>
            </a:r>
          </a:p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simulation</a:t>
            </a:r>
          </a:p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runtime tripwires</a:t>
            </a:r>
          </a:p>
          <a:p xmlns:a="http://schemas.openxmlformats.org/drawingml/2006/main">
            <a:pPr algn="l">
              <a:defRPr sz="1800" b="0">
                <a:solidFill>
                  <a:srgbClr val="D9E2D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D2"/>
                </a:solidFill>
                <a:latin typeface="Aptos"/>
                <a:ea typeface="Aptos"/>
                <a:cs typeface="Aptos"/>
              </a:rPr>
              <a:t>adoption acceleration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F1460-55BE-48D5-A555-197242E5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9950"/>
            <a:ext cx="220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C54E4-2A5D-4712-9DBC-38CA14C5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00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+20%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E4D0A-6347-472E-83C0-BB771769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006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6FA4C5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6FA4C5"/>
                </a:solidFill>
                <a:latin typeface="Aptos"/>
                <a:ea typeface="Aptos"/>
                <a:cs typeface="Aptos"/>
              </a:rPr>
              <a:t>+2000%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C0B15-7826-4F6F-AB7E-CF626981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05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Central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DCB80-62CD-43C3-92A6-070084C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8483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0E6"/>
                </a:solidFill>
                <a:latin typeface="Aptos"/>
                <a:ea typeface="Aptos"/>
                <a:cs typeface="Aptos"/>
              </a:rPr>
              <a:t>Does AGI make violence easier to monopolize, or easier to proliferate?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0D356-F61B-43F7-A050-79D9F279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DD511-D71F-4A24-BB7F-49DCE8B7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7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7A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4519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2026-05-11T18:46:01.7540000Z</dcterms:created>
  <dcterms:modified xsi:type="dcterms:W3CDTF">2026-05-11T18:46:01.7540000Z</dcterms:modified>
</coreProperties>
</file>